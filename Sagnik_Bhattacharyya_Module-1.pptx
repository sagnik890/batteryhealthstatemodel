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2704" y="1647502"/>
            <a:ext cx="4575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Arial"/>
                <a:cs typeface="Arial"/>
              </a:rPr>
              <a:t>Battery</a:t>
            </a:r>
            <a:r>
              <a:rPr dirty="0" sz="2200" spc="-7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Health</a:t>
            </a:r>
            <a:r>
              <a:rPr dirty="0" sz="2200" spc="-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State</a:t>
            </a:r>
            <a:r>
              <a:rPr dirty="0" sz="2200" spc="-6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Classification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1446" y="2988183"/>
            <a:ext cx="6448425" cy="1551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770" marR="5080" indent="-560705">
              <a:lnSpc>
                <a:spcPct val="118100"/>
              </a:lnSpc>
              <a:spcBef>
                <a:spcPts val="100"/>
              </a:spcBef>
            </a:pPr>
            <a:r>
              <a:rPr dirty="0" baseline="-4629" sz="1800" b="1">
                <a:solidFill>
                  <a:srgbClr val="444444"/>
                </a:solidFill>
                <a:latin typeface="Arial"/>
                <a:cs typeface="Arial"/>
              </a:rPr>
              <a:t>Objective:</a:t>
            </a:r>
            <a:r>
              <a:rPr dirty="0" baseline="-4629" sz="1800" spc="1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Documenting the complete modelling pipeline, explain the improvement from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78.5%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89.5% test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accuracy, and interpretation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of the two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multiclass confusion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matrices.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Arial MT"/>
              <a:cs typeface="Arial MT"/>
            </a:endParaRPr>
          </a:p>
          <a:p>
            <a:pPr algn="ctr" marL="1303655" marR="1526540">
              <a:lnSpc>
                <a:spcPct val="118100"/>
              </a:lnSpc>
            </a:pP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Dataset: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Kaggle-hosted NASA battery cycling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dataset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Final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evaluation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set: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600</a:t>
            </a:r>
            <a:r>
              <a:rPr dirty="0" sz="120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discharge-cycle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samples </a:t>
            </a:r>
            <a:r>
              <a:rPr dirty="0" sz="1200">
                <a:solidFill>
                  <a:srgbClr val="444444"/>
                </a:solidFill>
                <a:latin typeface="Arial MT"/>
                <a:cs typeface="Arial MT"/>
              </a:rPr>
              <a:t>Classes: Healthy, Degrading, </a:t>
            </a:r>
            <a:r>
              <a:rPr dirty="0" sz="1200" spc="-10">
                <a:solidFill>
                  <a:srgbClr val="444444"/>
                </a:solidFill>
                <a:latin typeface="Arial MT"/>
                <a:cs typeface="Arial MT"/>
              </a:rPr>
              <a:t>Critical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380" y="5025009"/>
            <a:ext cx="39458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NAME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SAGNIK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BHATTACHARYYA</a:t>
            </a:r>
            <a:endParaRPr sz="1200">
              <a:latin typeface="Arial MT"/>
              <a:cs typeface="Arial MT"/>
            </a:endParaRPr>
          </a:p>
          <a:p>
            <a:pPr marL="12700" marR="859155">
              <a:lnSpc>
                <a:spcPct val="200000"/>
              </a:lnSpc>
            </a:pPr>
            <a:r>
              <a:rPr dirty="0" sz="1200">
                <a:latin typeface="Arial MT"/>
                <a:cs typeface="Arial MT"/>
              </a:rPr>
              <a:t>ENROLLMENT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NUMBER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12023052003048 A-</a:t>
            </a:r>
            <a:r>
              <a:rPr dirty="0" sz="1200" spc="-25">
                <a:latin typeface="Arial MT"/>
                <a:cs typeface="Arial MT"/>
              </a:rPr>
              <a:t>47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200000"/>
              </a:lnSpc>
            </a:pPr>
            <a:r>
              <a:rPr dirty="0" sz="1200">
                <a:latin typeface="Arial MT"/>
                <a:cs typeface="Arial MT"/>
              </a:rPr>
              <a:t>ELECTRONICS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COMMUNICATION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ENGINEERING </a:t>
            </a:r>
            <a:r>
              <a:rPr dirty="0" sz="1200">
                <a:latin typeface="Arial MT"/>
                <a:cs typeface="Arial MT"/>
              </a:rPr>
              <a:t>INSTITUTE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ENGINEERING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MANAGEMENT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30950" cy="235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1.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Executive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Summary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builds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supervised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machine-learning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system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states: </a:t>
            </a:r>
            <a:r>
              <a:rPr dirty="0" sz="900" b="1">
                <a:latin typeface="Arial"/>
                <a:cs typeface="Arial"/>
              </a:rPr>
              <a:t>Healthy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Degrading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Critical</a:t>
            </a:r>
            <a:r>
              <a:rPr dirty="0" sz="900">
                <a:latin typeface="Arial MT"/>
                <a:cs typeface="Arial MT"/>
              </a:rPr>
              <a:t>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target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derived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(SOH),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initial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experiment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78.5%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test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accuracy</a:t>
            </a:r>
            <a:r>
              <a:rPr dirty="0" sz="900">
                <a:latin typeface="Arial MT"/>
                <a:cs typeface="Arial MT"/>
              </a:rPr>
              <a:t>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pipeline </a:t>
            </a:r>
            <a:r>
              <a:rPr dirty="0" sz="900">
                <a:latin typeface="Arial MT"/>
                <a:cs typeface="Arial MT"/>
              </a:rPr>
              <a:t>produced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89.5%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test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accuracy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600-sample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size.</a:t>
            </a:r>
            <a:endParaRPr sz="900">
              <a:latin typeface="Arial MT"/>
              <a:cs typeface="Arial MT"/>
            </a:endParaRPr>
          </a:p>
          <a:p>
            <a:pPr marL="12700" marR="2349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improvement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caused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isolated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combination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(1)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richer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discharge-</a:t>
            </a:r>
            <a:r>
              <a:rPr dirty="0" sz="900" spc="-10">
                <a:latin typeface="Arial MT"/>
                <a:cs typeface="Arial MT"/>
              </a:rPr>
              <a:t>curve </a:t>
            </a:r>
            <a:r>
              <a:rPr dirty="0" sz="900">
                <a:latin typeface="Arial MT"/>
                <a:cs typeface="Arial MT"/>
              </a:rPr>
              <a:t>features,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(2)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per-battery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normalize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against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early-life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behavior,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(3) </a:t>
            </a:r>
            <a:r>
              <a:rPr dirty="0" sz="900">
                <a:latin typeface="Arial MT"/>
                <a:cs typeface="Arial MT"/>
              </a:rPr>
              <a:t>capacity/energy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proxy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derived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directly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curve,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(4)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battery-grouped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train/test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separation,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(5) </a:t>
            </a:r>
            <a:r>
              <a:rPr dirty="0" sz="900">
                <a:latin typeface="Arial MT"/>
                <a:cs typeface="Arial MT"/>
              </a:rPr>
              <a:t>hyperparameter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tuning/model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selection,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final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89.5%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matrix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corresponding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Tree.</a:t>
            </a:r>
            <a:endParaRPr sz="900">
              <a:latin typeface="Arial MT"/>
              <a:cs typeface="Arial MT"/>
            </a:endParaRPr>
          </a:p>
          <a:p>
            <a:pPr marL="12700" marR="3746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interpretation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merely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'Healthy'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often.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Degrading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becomes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easier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identify: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89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132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49.2%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72.9%.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detection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25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positives,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zero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negatives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matrix.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825" y="2927798"/>
          <a:ext cx="6562725" cy="1949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90"/>
                <a:gridCol w="1800225"/>
                <a:gridCol w="1152525"/>
                <a:gridCol w="1152525"/>
                <a:gridCol w="1800225"/>
                <a:gridCol w="288289"/>
              </a:tblGrid>
              <a:tr h="609600">
                <a:tc gridSpan="6">
                  <a:txBody>
                    <a:bodyPr/>
                    <a:lstStyle/>
                    <a:p>
                      <a:pPr marL="76200" marR="67945">
                        <a:lnSpc>
                          <a:spcPct val="117600"/>
                        </a:lnSpc>
                        <a:spcBef>
                          <a:spcPts val="420"/>
                        </a:spcBef>
                      </a:pPr>
                      <a:r>
                        <a:rPr dirty="0" sz="850" b="1">
                          <a:latin typeface="Arial"/>
                          <a:cs typeface="Arial"/>
                        </a:rPr>
                        <a:t>Important</a:t>
                      </a:r>
                      <a:r>
                        <a:rPr dirty="0" sz="85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latin typeface="Arial"/>
                          <a:cs typeface="Arial"/>
                        </a:rPr>
                        <a:t>correction:</a:t>
                      </a:r>
                      <a:r>
                        <a:rPr dirty="0" sz="85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supplied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confusion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matrices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show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decrease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true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positives.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True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positives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three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classes: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Healthy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377</a:t>
                      </a:r>
                      <a:r>
                        <a:rPr dirty="0" sz="85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380,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Degrading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89</a:t>
                      </a:r>
                      <a:r>
                        <a:rPr dirty="0" sz="85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132,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Critical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850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25.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changes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distribution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errors,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especially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large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reduction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Degrading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Critical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samples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being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incorrectly</a:t>
                      </a:r>
                      <a:r>
                        <a:rPr dirty="0" sz="8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predicted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Healthy.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C6D8"/>
                      </a:solidFill>
                      <a:prstDash val="solid"/>
                    </a:lnL>
                    <a:lnR w="6350">
                      <a:solidFill>
                        <a:srgbClr val="B8C6D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352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Measure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Baseline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Improved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Change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  <a:tr h="222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7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samples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600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600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sz="75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evaluation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size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Accuracy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78.5%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89.5%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+11.0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percentage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points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Correct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predictions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471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537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+66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  <a:tr h="222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Incorrect</a:t>
                      </a:r>
                      <a:r>
                        <a:rPr dirty="0" sz="7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predictions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129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63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66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Macro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F1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0.582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0.910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+0.328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T w="6350">
                      <a:solidFill>
                        <a:srgbClr val="B8C6D8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12535" cy="3753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38760" algn="l"/>
              </a:tabLst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Why This Dataset Was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Chosen</a:t>
            </a:r>
            <a:endParaRPr sz="1600">
              <a:latin typeface="Arial"/>
              <a:cs typeface="Arial"/>
            </a:endParaRPr>
          </a:p>
          <a:p>
            <a:pPr marL="12700" marR="83185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Kaggle-hosted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NASA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dataset.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identifies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7,565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metadata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records </a:t>
            </a:r>
            <a:r>
              <a:rPr dirty="0" sz="900">
                <a:latin typeface="Arial MT"/>
                <a:cs typeface="Arial MT"/>
              </a:rPr>
              <a:t>covering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charge,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impedance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tests.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pipeline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focuses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specifically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records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behavior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directly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exposes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voltage,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characteristics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associated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aging.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150" b="1">
                <a:latin typeface="Arial"/>
                <a:cs typeface="Arial"/>
              </a:rPr>
              <a:t>This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dataset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is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appropriate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task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several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practical</a:t>
            </a:r>
            <a:r>
              <a:rPr dirty="0" sz="1150" spc="-10" b="1">
                <a:latin typeface="Arial"/>
                <a:cs typeface="Arial"/>
              </a:rPr>
              <a:t> reasons:</a:t>
            </a:r>
            <a:endParaRPr sz="1150">
              <a:latin typeface="Arial"/>
              <a:cs typeface="Arial"/>
            </a:endParaRPr>
          </a:p>
          <a:p>
            <a:pPr lvl="1" marL="149225" marR="62865" indent="-73025">
              <a:lnSpc>
                <a:spcPct val="121300"/>
              </a:lnSpc>
              <a:spcBef>
                <a:spcPts val="509"/>
              </a:spcBef>
              <a:buFont typeface="Arial MT"/>
              <a:buChar char="•"/>
              <a:tabLst>
                <a:tab pos="165100" algn="l"/>
              </a:tabLst>
            </a:pPr>
            <a:r>
              <a:rPr dirty="0" sz="900" b="1">
                <a:latin typeface="Arial"/>
                <a:cs typeface="Arial"/>
              </a:rPr>
              <a:t>Repeated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cycling: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observed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multiple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degradation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studied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progression </a:t>
            </a:r>
            <a:r>
              <a:rPr dirty="0" sz="900" spc="-10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isolated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observations.</a:t>
            </a:r>
            <a:endParaRPr sz="900">
              <a:latin typeface="Arial MT"/>
              <a:cs typeface="Arial MT"/>
            </a:endParaRPr>
          </a:p>
          <a:p>
            <a:pPr lvl="1" marL="149225" marR="277495" indent="-73025">
              <a:lnSpc>
                <a:spcPct val="121300"/>
              </a:lnSpc>
              <a:spcBef>
                <a:spcPts val="600"/>
              </a:spcBef>
              <a:buFont typeface="Arial MT"/>
              <a:buChar char="•"/>
              <a:tabLst>
                <a:tab pos="165100" algn="l"/>
              </a:tabLst>
            </a:pPr>
            <a:r>
              <a:rPr dirty="0" sz="900" b="1">
                <a:latin typeface="Arial"/>
                <a:cs typeface="Arial"/>
              </a:rPr>
              <a:t>Battery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identity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is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available: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preserve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battery-level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evaluation,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important </a:t>
            </a:r>
            <a:r>
              <a:rPr dirty="0" sz="900" spc="-10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physical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independent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experiments.</a:t>
            </a:r>
            <a:endParaRPr sz="900">
              <a:latin typeface="Arial MT"/>
              <a:cs typeface="Arial MT"/>
            </a:endParaRPr>
          </a:p>
          <a:p>
            <a:pPr lvl="1" marL="149225" marR="5080" indent="-73025">
              <a:lnSpc>
                <a:spcPct val="121300"/>
              </a:lnSpc>
              <a:spcBef>
                <a:spcPts val="600"/>
              </a:spcBef>
              <a:buFont typeface="Arial MT"/>
              <a:buChar char="•"/>
              <a:tabLst>
                <a:tab pos="165100" algn="l"/>
              </a:tabLst>
            </a:pPr>
            <a:r>
              <a:rPr dirty="0" sz="900" b="1">
                <a:latin typeface="Arial"/>
                <a:cs typeface="Arial"/>
              </a:rPr>
              <a:t>Measured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electrical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thermal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signals: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voltage,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available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discharge-</a:t>
            </a:r>
            <a:r>
              <a:rPr dirty="0" sz="900" spc="-10">
                <a:latin typeface="Arial MT"/>
                <a:cs typeface="Arial MT"/>
              </a:rPr>
              <a:t>curve </a:t>
            </a:r>
            <a:r>
              <a:rPr dirty="0" sz="900" spc="-10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converted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meaningful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cycle-level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features.</a:t>
            </a:r>
            <a:endParaRPr sz="900">
              <a:latin typeface="Arial MT"/>
              <a:cs typeface="Arial MT"/>
            </a:endParaRPr>
          </a:p>
          <a:p>
            <a:pPr lvl="1" marL="149225" marR="140970" indent="-73025">
              <a:lnSpc>
                <a:spcPct val="121300"/>
              </a:lnSpc>
              <a:spcBef>
                <a:spcPts val="600"/>
              </a:spcBef>
              <a:buFont typeface="Arial MT"/>
              <a:buChar char="•"/>
              <a:tabLst>
                <a:tab pos="165100" algn="l"/>
              </a:tabLst>
            </a:pPr>
            <a:r>
              <a:rPr dirty="0" sz="900" b="1">
                <a:latin typeface="Arial"/>
                <a:cs typeface="Arial"/>
              </a:rPr>
              <a:t>Capacity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information: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metadata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converted </a:t>
            </a:r>
            <a:r>
              <a:rPr dirty="0" sz="900" spc="-10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supervised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classes.</a:t>
            </a:r>
            <a:endParaRPr sz="900">
              <a:latin typeface="Arial MT"/>
              <a:cs typeface="Arial MT"/>
            </a:endParaRPr>
          </a:p>
          <a:p>
            <a:pPr lvl="1" marL="149225" marR="212725" indent="-73025">
              <a:lnSpc>
                <a:spcPct val="121300"/>
              </a:lnSpc>
              <a:spcBef>
                <a:spcPts val="600"/>
              </a:spcBef>
              <a:buFont typeface="Arial MT"/>
              <a:buChar char="•"/>
              <a:tabLst>
                <a:tab pos="165100" algn="l"/>
              </a:tabLst>
            </a:pPr>
            <a:r>
              <a:rPr dirty="0" sz="900" b="1">
                <a:latin typeface="Arial"/>
                <a:cs typeface="Arial"/>
              </a:rPr>
              <a:t>Real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experimental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variation: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ambient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temperature,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load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behavior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battery-to-battery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differences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more </a:t>
            </a:r>
            <a:r>
              <a:rPr dirty="0" sz="900" spc="-20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realistic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classification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perfectly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clean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synthetic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dataset.</a:t>
            </a:r>
            <a:endParaRPr sz="900">
              <a:latin typeface="Arial MT"/>
              <a:cs typeface="Arial MT"/>
            </a:endParaRPr>
          </a:p>
          <a:p>
            <a:pPr marL="12700" marR="2413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executed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2,794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found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34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batteries</a:t>
            </a:r>
            <a:r>
              <a:rPr dirty="0" sz="900">
                <a:latin typeface="Arial MT"/>
                <a:cs typeface="Arial MT"/>
              </a:rPr>
              <a:t>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After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invalid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rows, </a:t>
            </a:r>
            <a:r>
              <a:rPr dirty="0" sz="900">
                <a:latin typeface="Arial MT"/>
                <a:cs typeface="Arial MT"/>
              </a:rPr>
              <a:t>duplicates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implausible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records,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table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2,562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cycle-level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samples</a:t>
            </a:r>
            <a:r>
              <a:rPr dirty="0" sz="900" spc="-1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825" y="4407348"/>
          <a:ext cx="6562725" cy="1548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/>
                <a:gridCol w="3780154"/>
                <a:gridCol w="1979929"/>
                <a:gridCol w="360045"/>
              </a:tblGrid>
              <a:tr h="22352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Dataset</a:t>
                      </a:r>
                      <a:r>
                        <a:rPr dirty="0" sz="750" spc="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stage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Count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2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7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metadata</a:t>
                      </a:r>
                      <a:r>
                        <a:rPr dirty="0" sz="7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records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7,565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Discharge</a:t>
                      </a:r>
                      <a:r>
                        <a:rPr dirty="0" sz="7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records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2,794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2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Batteries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represented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5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discharge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data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B w="6350">
                      <a:solidFill>
                        <a:srgbClr val="B8C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Final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cleaned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cycle-level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samples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2,562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B w="6350">
                      <a:solidFill>
                        <a:srgbClr val="B8C6D8"/>
                      </a:solidFill>
                      <a:prstDash val="solid"/>
                    </a:lnB>
                  </a:tcPr>
                </a:tc>
              </a:tr>
              <a:tr h="457200">
                <a:tc gridSpan="4">
                  <a:txBody>
                    <a:bodyPr/>
                    <a:lstStyle/>
                    <a:p>
                      <a:pPr marL="76200" marR="113664">
                        <a:lnSpc>
                          <a:spcPct val="117600"/>
                        </a:lnSpc>
                        <a:spcBef>
                          <a:spcPts val="420"/>
                        </a:spcBef>
                      </a:pPr>
                      <a:r>
                        <a:rPr dirty="0" sz="850">
                          <a:latin typeface="Arial MT"/>
                          <a:cs typeface="Arial MT"/>
                        </a:rPr>
                        <a:t>Why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matters: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final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measurement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such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voltage.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learns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health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state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8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compact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representation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entire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discharge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behavior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cycle.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C6D8"/>
                      </a:solidFill>
                      <a:prstDash val="solid"/>
                    </a:lnL>
                    <a:lnR w="6350">
                      <a:solidFill>
                        <a:srgbClr val="B8C6D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53098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3.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From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Raw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Battery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Files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to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a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Machine-Learning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Table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646" y="1153410"/>
            <a:ext cx="5111897" cy="11575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500" y="3493903"/>
            <a:ext cx="6176010" cy="1877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03505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1.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End-to-end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workflow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used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convert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raw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battery-cycle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files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into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health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predictions.</a:t>
            </a:r>
            <a:endParaRPr sz="800">
              <a:latin typeface="Arial MT"/>
              <a:cs typeface="Arial MT"/>
            </a:endParaRPr>
          </a:p>
          <a:p>
            <a:pPr marL="12700" marR="14160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CSV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time-series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measurements.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feature-extraction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function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reads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Voltage_measured, </a:t>
            </a:r>
            <a:r>
              <a:rPr dirty="0" sz="900">
                <a:latin typeface="Arial MT"/>
                <a:cs typeface="Arial MT"/>
              </a:rPr>
              <a:t>Current_measured,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Temperature_measured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Instead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feeding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classifier,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summarizes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physically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interpretable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statistics.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row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represents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one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discharge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cycle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one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battery</a:t>
            </a:r>
            <a:r>
              <a:rPr dirty="0" sz="900">
                <a:latin typeface="Arial MT"/>
                <a:cs typeface="Arial MT"/>
              </a:rPr>
              <a:t>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ambient </a:t>
            </a:r>
            <a:r>
              <a:rPr dirty="0" sz="900">
                <a:latin typeface="Arial MT"/>
                <a:cs typeface="Arial MT"/>
              </a:rPr>
              <a:t>temperature,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statistics,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statistics,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statistics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time-based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indicators.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pipeline,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additional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curve-derived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quantities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computed: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coulomb-counted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estimated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delivered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energy.</a:t>
            </a:r>
            <a:endParaRPr sz="900">
              <a:latin typeface="Arial MT"/>
              <a:cs typeface="Arial MT"/>
            </a:endParaRPr>
          </a:p>
          <a:p>
            <a:pPr marL="12700" marR="24574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conversion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tree-based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classifiers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operate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tabular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matrix.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dimensionality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retaining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relevant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degradation.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459" y="5458593"/>
          <a:ext cx="6256654" cy="1518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2160270"/>
                <a:gridCol w="2575560"/>
              </a:tblGrid>
              <a:tr h="21717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7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 b="1">
                          <a:latin typeface="Arial"/>
                          <a:cs typeface="Arial"/>
                        </a:rPr>
                        <a:t>family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 b="1">
                          <a:latin typeface="Arial"/>
                          <a:cs typeface="Arial"/>
                        </a:rPr>
                        <a:t>Examples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b="1"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b="1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 spc="-10" b="1">
                          <a:latin typeface="Arial"/>
                          <a:cs typeface="Arial"/>
                        </a:rPr>
                        <a:t>captures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Voltage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v_mean,</a:t>
                      </a:r>
                      <a:r>
                        <a:rPr dirty="0" sz="7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v_min,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v_max,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v_std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Operating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voltage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level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discharge-curve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spread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Current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i_mean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Typical</a:t>
                      </a:r>
                      <a:r>
                        <a:rPr dirty="0" sz="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discharge</a:t>
                      </a:r>
                      <a:r>
                        <a:rPr dirty="0" sz="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latin typeface="Arial MT"/>
                          <a:cs typeface="Arial MT"/>
                        </a:rPr>
                        <a:t>load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>
                          <a:latin typeface="Arial MT"/>
                          <a:cs typeface="Arial MT"/>
                        </a:rPr>
                        <a:t>Temperature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temp_mean,</a:t>
                      </a:r>
                      <a:r>
                        <a:rPr dirty="0" sz="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temp_max,</a:t>
                      </a:r>
                      <a:r>
                        <a:rPr dirty="0" sz="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temp_rise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Thermal</a:t>
                      </a:r>
                      <a:r>
                        <a:rPr dirty="0" sz="7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behavior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during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discharge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0">
                          <a:latin typeface="Arial MT"/>
                          <a:cs typeface="Arial MT"/>
                        </a:rPr>
                        <a:t>Time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discharge_time_s,</a:t>
                      </a:r>
                      <a:r>
                        <a:rPr dirty="0" sz="7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time_to_3_5V_s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long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battery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sustains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discharge</a:t>
                      </a:r>
                      <a:r>
                        <a:rPr dirty="0" sz="7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reaches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7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voltage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5">
                          <a:latin typeface="Arial MT"/>
                          <a:cs typeface="Arial MT"/>
                        </a:rPr>
                        <a:t>thr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Operating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context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cycle,</a:t>
                      </a:r>
                      <a:r>
                        <a:rPr dirty="0" sz="7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ambient_temperature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Age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environmental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conditions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Curve-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derived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cap_est_ah,</a:t>
                      </a:r>
                      <a:r>
                        <a:rPr dirty="0" sz="7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energy_wh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488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>
                          <a:latin typeface="Arial MT"/>
                          <a:cs typeface="Arial MT"/>
                        </a:rPr>
                        <a:t>Approximate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charge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throughput</a:t>
                      </a:r>
                      <a:r>
                        <a:rPr dirty="0" sz="7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latin typeface="Arial MT"/>
                          <a:cs typeface="Arial MT"/>
                        </a:rPr>
                        <a:t>delivered</a:t>
                      </a:r>
                      <a:r>
                        <a:rPr dirty="0" sz="7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latin typeface="Arial MT"/>
                          <a:cs typeface="Arial MT"/>
                        </a:rPr>
                        <a:t>energy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874230" y="6367913"/>
            <a:ext cx="2914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latin typeface="Arial MT"/>
                <a:cs typeface="Arial MT"/>
              </a:rPr>
              <a:t>eshold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53810" cy="3829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38760" algn="l"/>
              </a:tabLst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Data Cleaning and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Preprocessing</a:t>
            </a:r>
            <a:endParaRPr sz="1600">
              <a:latin typeface="Arial"/>
              <a:cs typeface="Arial"/>
            </a:endParaRPr>
          </a:p>
          <a:p>
            <a:pPr algn="just" marL="12700" marR="3302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constructs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cycle-level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table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quality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filters.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Infinite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replaced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with </a:t>
            </a:r>
            <a:r>
              <a:rPr dirty="0" sz="900">
                <a:latin typeface="Arial MT"/>
                <a:cs typeface="Arial MT"/>
              </a:rPr>
              <a:t>missing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missing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rows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removed,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duplicates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removed,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restricted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physically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plausible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interval,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extremely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short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excluded.</a:t>
            </a:r>
            <a:endParaRPr sz="9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810"/>
              </a:spcBef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final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cleaning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rules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used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for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modelling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table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were:</a:t>
            </a:r>
            <a:endParaRPr sz="1150">
              <a:latin typeface="Arial"/>
              <a:cs typeface="Arial"/>
            </a:endParaRPr>
          </a:p>
          <a:p>
            <a:pPr lvl="1" marL="149225" indent="-73025">
              <a:lnSpc>
                <a:spcPct val="100000"/>
              </a:lnSpc>
              <a:spcBef>
                <a:spcPts val="74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Replace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positive/negative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infinity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missing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drop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rows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missing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values.</a:t>
            </a:r>
            <a:endParaRPr sz="900">
              <a:latin typeface="Arial MT"/>
              <a:cs typeface="Arial MT"/>
            </a:endParaRPr>
          </a:p>
          <a:p>
            <a:pPr lvl="1" marL="149225" indent="-73025">
              <a:lnSpc>
                <a:spcPct val="100000"/>
              </a:lnSpc>
              <a:spcBef>
                <a:spcPts val="83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Remove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duplicate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cycle-level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rows.</a:t>
            </a:r>
            <a:endParaRPr sz="900">
              <a:latin typeface="Arial MT"/>
              <a:cs typeface="Arial MT"/>
            </a:endParaRPr>
          </a:p>
          <a:p>
            <a:pPr lvl="1" marL="149225" indent="-73025">
              <a:lnSpc>
                <a:spcPct val="100000"/>
              </a:lnSpc>
              <a:spcBef>
                <a:spcPts val="83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Keep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greater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0.2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2.5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Ah.</a:t>
            </a:r>
            <a:endParaRPr sz="900">
              <a:latin typeface="Arial MT"/>
              <a:cs typeface="Arial MT"/>
            </a:endParaRPr>
          </a:p>
          <a:p>
            <a:pPr lvl="1" marL="149225" indent="-73025">
              <a:lnSpc>
                <a:spcPct val="100000"/>
              </a:lnSpc>
              <a:spcBef>
                <a:spcPts val="83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Keep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longer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60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seconds.</a:t>
            </a:r>
            <a:endParaRPr sz="900">
              <a:latin typeface="Arial MT"/>
              <a:cs typeface="Arial MT"/>
            </a:endParaRPr>
          </a:p>
          <a:p>
            <a:pPr lvl="1" marL="149225" indent="-73025">
              <a:lnSpc>
                <a:spcPct val="100000"/>
              </a:lnSpc>
              <a:spcBef>
                <a:spcPts val="83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Sort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observations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before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battery-specific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baselines.</a:t>
            </a:r>
            <a:endParaRPr sz="900">
              <a:latin typeface="Arial MT"/>
              <a:cs typeface="Arial MT"/>
            </a:endParaRPr>
          </a:p>
          <a:p>
            <a:pPr marL="12700" marR="6604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normalization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step.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valid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cycles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treated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approximate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'as-new'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reference.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Several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divided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median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those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cycles.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creates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i="1">
                <a:latin typeface="Arial"/>
                <a:cs typeface="Arial"/>
              </a:rPr>
              <a:t>cap_est_ah_rel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i="1">
                <a:latin typeface="Arial"/>
                <a:cs typeface="Arial"/>
              </a:rPr>
              <a:t>energy_wh_rel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i="1">
                <a:latin typeface="Arial"/>
                <a:cs typeface="Arial"/>
              </a:rPr>
              <a:t>discharge_time_s_rel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i="1">
                <a:latin typeface="Arial"/>
                <a:cs typeface="Arial"/>
              </a:rPr>
              <a:t>time_to_3_5V_s_rel</a:t>
            </a:r>
            <a:r>
              <a:rPr dirty="0" sz="900" spc="95" i="1">
                <a:latin typeface="Arial"/>
                <a:cs typeface="Arial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spc="-10" i="1">
                <a:latin typeface="Arial"/>
                <a:cs typeface="Arial"/>
              </a:rPr>
              <a:t>v_mean_rel</a:t>
            </a:r>
            <a:r>
              <a:rPr dirty="0" sz="900" spc="-10">
                <a:latin typeface="Arial MT"/>
                <a:cs typeface="Arial MT"/>
              </a:rPr>
              <a:t>.</a:t>
            </a:r>
            <a:endParaRPr sz="900">
              <a:latin typeface="Arial MT"/>
              <a:cs typeface="Arial MT"/>
            </a:endParaRPr>
          </a:p>
          <a:p>
            <a:pPr algn="just"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matters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absolute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measurements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unrelated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aging.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discharge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3,000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seconds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something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starting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characteristics.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ratio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as </a:t>
            </a:r>
            <a:r>
              <a:rPr dirty="0" sz="900">
                <a:latin typeface="Arial MT"/>
                <a:cs typeface="Arial MT"/>
              </a:rPr>
              <a:t>current-cycle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divided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early-life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asks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useful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question: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how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much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has </a:t>
            </a:r>
            <a:r>
              <a:rPr dirty="0" sz="900" b="1">
                <a:latin typeface="Arial"/>
                <a:cs typeface="Arial"/>
              </a:rPr>
              <a:t>this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battery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changed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relative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to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itself?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000" y="4410523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76200" marR="89535">
              <a:lnSpc>
                <a:spcPct val="117600"/>
              </a:lnSpc>
              <a:spcBef>
                <a:spcPts val="420"/>
              </a:spcBef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separate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full-</a:t>
            </a:r>
            <a:r>
              <a:rPr dirty="0" sz="850">
                <a:latin typeface="Arial MT"/>
                <a:cs typeface="Arial MT"/>
              </a:rPr>
              <a:t>dataset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preprocessing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section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also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demonstrates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missing-</a:t>
            </a:r>
            <a:r>
              <a:rPr dirty="0" sz="850">
                <a:latin typeface="Arial MT"/>
                <a:cs typeface="Arial MT"/>
              </a:rPr>
              <a:t>value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imputation,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IQR-</a:t>
            </a:r>
            <a:r>
              <a:rPr dirty="0" sz="850">
                <a:latin typeface="Arial MT"/>
                <a:cs typeface="Arial MT"/>
              </a:rPr>
              <a:t>based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clipping,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power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calculation, </a:t>
            </a:r>
            <a:r>
              <a:rPr dirty="0" sz="850">
                <a:latin typeface="Arial MT"/>
                <a:cs typeface="Arial MT"/>
              </a:rPr>
              <a:t>time</a:t>
            </a:r>
            <a:r>
              <a:rPr dirty="0" sz="850" spc="-3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differences,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categorical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encoding,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standardization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min-</a:t>
            </a:r>
            <a:r>
              <a:rPr dirty="0" sz="850">
                <a:latin typeface="Arial MT"/>
                <a:cs typeface="Arial MT"/>
              </a:rPr>
              <a:t>max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normalization.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These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operations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document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broader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cleaned </a:t>
            </a:r>
            <a:r>
              <a:rPr dirty="0" sz="850">
                <a:latin typeface="Arial MT"/>
                <a:cs typeface="Arial MT"/>
              </a:rPr>
              <a:t>dataset,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while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final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classification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experiment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relies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explicitly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defined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cycle-</a:t>
            </a:r>
            <a:r>
              <a:rPr dirty="0" sz="850">
                <a:latin typeface="Arial MT"/>
                <a:cs typeface="Arial MT"/>
              </a:rPr>
              <a:t>level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feature</a:t>
            </a:r>
            <a:r>
              <a:rPr dirty="0" sz="850" spc="-20">
                <a:latin typeface="Arial MT"/>
                <a:cs typeface="Arial MT"/>
              </a:rPr>
              <a:t> set.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04280" cy="126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5.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Defining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State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of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Health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and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the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Three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Classes</a:t>
            </a:r>
            <a:endParaRPr sz="1600">
              <a:latin typeface="Arial"/>
              <a:cs typeface="Arial"/>
            </a:endParaRPr>
          </a:p>
          <a:p>
            <a:pPr marL="12700" marR="21717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State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computed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universal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median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defines:</a:t>
            </a:r>
            <a:endParaRPr sz="900">
              <a:latin typeface="Arial MT"/>
              <a:cs typeface="Arial MT"/>
            </a:endParaRPr>
          </a:p>
          <a:p>
            <a:pPr marL="61594">
              <a:lnSpc>
                <a:spcPct val="100000"/>
              </a:lnSpc>
              <a:spcBef>
                <a:spcPts val="810"/>
              </a:spcBef>
            </a:pPr>
            <a:r>
              <a:rPr dirty="0" sz="1200" b="1">
                <a:latin typeface="Arial"/>
                <a:cs typeface="Arial"/>
              </a:rPr>
              <a:t>SOH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= current discharge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capacity / median capacity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the first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three discharge </a:t>
            </a:r>
            <a:r>
              <a:rPr dirty="0" sz="1200" spc="-10" b="1">
                <a:latin typeface="Arial"/>
                <a:cs typeface="Arial"/>
              </a:rPr>
              <a:t>cycles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converted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discrete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states: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7459" y="1914973"/>
          <a:ext cx="6219825" cy="88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/>
                <a:gridCol w="1440180"/>
                <a:gridCol w="3186429"/>
              </a:tblGrid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SOH</a:t>
                      </a:r>
                      <a:r>
                        <a:rPr dirty="0" sz="7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range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Class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120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Interpretation</a:t>
                      </a:r>
                      <a:r>
                        <a:rPr dirty="0" sz="75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75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75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 project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SOH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Symbol"/>
                          <a:cs typeface="Symbol"/>
                        </a:rPr>
                        <a:t></a:t>
                      </a:r>
                      <a:r>
                        <a:rPr dirty="0" sz="7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0.85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Capacity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remains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above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85%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battery's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0.75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SOH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0.85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battery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crossed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first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degradation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threshold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reached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SOH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&lt;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0.75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battery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below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75%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its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capacity.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70773" y="2397573"/>
            <a:ext cx="683895" cy="1384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critical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thres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500" y="2838772"/>
            <a:ext cx="6273800" cy="524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13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cleaned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dataset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1,638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658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266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classes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imbalanced: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largest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smallest.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imbalance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code </a:t>
            </a:r>
            <a:r>
              <a:rPr dirty="0" sz="900">
                <a:latin typeface="Arial MT"/>
                <a:cs typeface="Arial MT"/>
              </a:rPr>
              <a:t>uses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class_weight='balanced'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Tree/SVM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candidates.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250" y="3547443"/>
            <a:ext cx="3606750" cy="2331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7711" y="5998343"/>
            <a:ext cx="404558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2.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Distribution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three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battery-health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classes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cleaned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modelling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data.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47459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6.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Exploratory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Analysis: Mean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Discharge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Voltage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750" y="1070003"/>
            <a:ext cx="5447250" cy="299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500" y="4213903"/>
            <a:ext cx="6266815" cy="17113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34239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3.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Mean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discharge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voltage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versus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cycle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count,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with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one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line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per</a:t>
            </a:r>
            <a:r>
              <a:rPr dirty="0" sz="8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battery.</a:t>
            </a:r>
            <a:endParaRPr sz="800">
              <a:latin typeface="Arial MT"/>
              <a:cs typeface="Arial MT"/>
            </a:endParaRPr>
          </a:p>
          <a:p>
            <a:pPr marL="12700" marR="1841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shows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behavior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identical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trajectories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occupy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>
                <a:latin typeface="Arial MT"/>
                <a:cs typeface="Arial MT"/>
              </a:rPr>
              <a:t> relatively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narrow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band,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show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abrupt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irregular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sections.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exactly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why </a:t>
            </a:r>
            <a:r>
              <a:rPr dirty="0" sz="900">
                <a:latin typeface="Arial MT"/>
                <a:cs typeface="Arial MT"/>
              </a:rPr>
              <a:t>relying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threshold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insufficient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classification.</a:t>
            </a:r>
            <a:endParaRPr sz="900">
              <a:latin typeface="Arial MT"/>
              <a:cs typeface="Arial MT"/>
            </a:endParaRPr>
          </a:p>
          <a:p>
            <a:pPr marL="12700" marR="18034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instead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receives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several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descriptors: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mean,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minimum,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maximum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standard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deviation.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Together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describe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overall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level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variability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curve.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Forest's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feature-importance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ranked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i_mean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time_to_3_5V_s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v_std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cycle</a:t>
            </a:r>
            <a:r>
              <a:rPr dirty="0" sz="900" spc="80" b="1">
                <a:latin typeface="Arial"/>
                <a:cs typeface="Arial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b="1">
                <a:latin typeface="Arial"/>
                <a:cs typeface="Arial"/>
              </a:rPr>
              <a:t>temp_rise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among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top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multiple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physical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signals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>
                <a:latin typeface="Arial MT"/>
                <a:cs typeface="Arial MT"/>
              </a:rPr>
              <a:t> single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statistic.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000" y="5938563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76200" marR="67310">
              <a:lnSpc>
                <a:spcPct val="117600"/>
              </a:lnSpc>
              <a:spcBef>
                <a:spcPts val="420"/>
              </a:spcBef>
            </a:pP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useful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interpretation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degradation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expressed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through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combination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electrical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temporal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behavior.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battery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that </a:t>
            </a:r>
            <a:r>
              <a:rPr dirty="0" sz="850">
                <a:latin typeface="Arial MT"/>
                <a:cs typeface="Arial MT"/>
              </a:rPr>
              <a:t>reaches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3.5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unusually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early,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changes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voltage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profile,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heats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differently,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behaves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differently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under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load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provide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information </a:t>
            </a:r>
            <a:r>
              <a:rPr dirty="0" sz="850">
                <a:latin typeface="Arial MT"/>
                <a:cs typeface="Arial MT"/>
              </a:rPr>
              <a:t>about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health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state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even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when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average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voltage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alone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looks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normal.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0445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7.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Exploratory Analysis: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Capacity Fade and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Health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Boundaries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200" y="1067303"/>
            <a:ext cx="5326199" cy="2930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500" y="4141903"/>
            <a:ext cx="6353810" cy="1877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7089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4.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State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Health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versus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cycle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count.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Dashed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lines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indicate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85%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75%</a:t>
            </a:r>
            <a:r>
              <a:rPr dirty="0" sz="800" spc="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class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boundaries.</a:t>
            </a:r>
            <a:endParaRPr sz="800">
              <a:latin typeface="Arial MT"/>
              <a:cs typeface="Arial MT"/>
            </a:endParaRPr>
          </a:p>
          <a:p>
            <a:pPr marL="12700" marR="28003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capacity-fade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plot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central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derived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85%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line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separates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75%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separates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Critical.</a:t>
            </a:r>
            <a:endParaRPr sz="900">
              <a:latin typeface="Arial MT"/>
              <a:cs typeface="Arial MT"/>
            </a:endParaRPr>
          </a:p>
          <a:p>
            <a:pPr marL="12700" marR="2730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trajectories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perfectly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smooth.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remain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high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rapidly;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others </a:t>
            </a:r>
            <a:r>
              <a:rPr dirty="0" sz="900">
                <a:latin typeface="Arial MT"/>
                <a:cs typeface="Arial MT"/>
              </a:rPr>
              <a:t>show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fluctuations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unusual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explains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sufficient.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Two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similar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belong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have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different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characteristics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degradation trajectories.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engineering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attempts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address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variation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adding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relative-to-baseline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measurements.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These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encode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direction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magnitude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individual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less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dependent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 </a:t>
            </a:r>
            <a:r>
              <a:rPr dirty="0" sz="900">
                <a:latin typeface="Arial MT"/>
                <a:cs typeface="Arial MT"/>
              </a:rPr>
              <a:t>absolute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scale.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000" y="6032933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76200" marR="138430">
              <a:lnSpc>
                <a:spcPct val="117600"/>
              </a:lnSpc>
              <a:spcBef>
                <a:spcPts val="420"/>
              </a:spcBef>
            </a:pPr>
            <a:r>
              <a:rPr dirty="0" sz="850" b="1">
                <a:latin typeface="Arial"/>
                <a:cs typeface="Arial"/>
              </a:rPr>
              <a:t>Class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imbalance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is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visible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in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the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distribution: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>
                <a:latin typeface="Arial MT"/>
                <a:cs typeface="Arial MT"/>
              </a:rPr>
              <a:t>1,638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Healthy,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658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Degrading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266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Critical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cycles.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Because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Critical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the </a:t>
            </a:r>
            <a:r>
              <a:rPr dirty="0" sz="850">
                <a:latin typeface="Arial MT"/>
                <a:cs typeface="Arial MT"/>
              </a:rPr>
              <a:t>smallest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class,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model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simply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favors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majority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class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could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achieve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deceptively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respectable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accuracy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while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missing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critical </a:t>
            </a:r>
            <a:r>
              <a:rPr dirty="0" sz="850">
                <a:latin typeface="Arial MT"/>
                <a:cs typeface="Arial MT"/>
              </a:rPr>
              <a:t>batteries.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Therefore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confusion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matrix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class-</a:t>
            </a:r>
            <a:r>
              <a:rPr dirty="0" sz="850">
                <a:latin typeface="Arial MT"/>
                <a:cs typeface="Arial MT"/>
              </a:rPr>
              <a:t>level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recall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informative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accuracy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alone.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39840" cy="218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8.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Baseline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Model: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Why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Random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Forest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Was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Used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First</a:t>
            </a:r>
            <a:endParaRPr sz="1600">
              <a:latin typeface="Arial"/>
              <a:cs typeface="Arial"/>
            </a:endParaRPr>
          </a:p>
          <a:p>
            <a:pPr marL="12700" marR="103505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experiment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Random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Forest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Classifier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300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maximum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depth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12,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balanced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 </a:t>
            </a:r>
            <a:r>
              <a:rPr dirty="0" sz="900">
                <a:latin typeface="Arial MT"/>
                <a:cs typeface="Arial MT"/>
              </a:rPr>
              <a:t>weights,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fixed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parallel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execution.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choice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technically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reasonable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because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strong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tabular-data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capture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nonlinear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interactions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without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scaling.</a:t>
            </a:r>
            <a:endParaRPr sz="900">
              <a:latin typeface="Arial MT"/>
              <a:cs typeface="Arial MT"/>
            </a:endParaRPr>
          </a:p>
          <a:p>
            <a:pPr marL="12700" marR="38735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particularly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suitable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starting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table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mixes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quantities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different </a:t>
            </a:r>
            <a:r>
              <a:rPr dirty="0" sz="900">
                <a:latin typeface="Arial MT"/>
                <a:cs typeface="Arial MT"/>
              </a:rPr>
              <a:t>units: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seconds,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amperes,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degrees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Celsius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counts.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ensemble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require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variables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be </a:t>
            </a:r>
            <a:r>
              <a:rPr dirty="0" sz="900">
                <a:latin typeface="Arial MT"/>
                <a:cs typeface="Arial MT"/>
              </a:rPr>
              <a:t>standardized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before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splitting.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threshold-like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relationships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naturally,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discharge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becoming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informative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after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certain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point.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experiment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GroupShuffleSplit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ID.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nine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batteries: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B0007,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B0031, </a:t>
            </a:r>
            <a:r>
              <a:rPr dirty="0" sz="900">
                <a:latin typeface="Arial MT"/>
                <a:cs typeface="Arial MT"/>
              </a:rPr>
              <a:t>B0032,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B0039,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B0040,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B0043,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B0048,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B0049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B0054.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evaluates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generalization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that </a:t>
            </a:r>
            <a:r>
              <a:rPr dirty="0" sz="900">
                <a:latin typeface="Arial MT"/>
                <a:cs typeface="Arial MT"/>
              </a:rPr>
              <a:t>were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training,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mixing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test.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825" y="2837628"/>
          <a:ext cx="6562725" cy="2299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/>
                <a:gridCol w="2520315"/>
                <a:gridCol w="3240405"/>
                <a:gridCol w="360679"/>
              </a:tblGrid>
              <a:tr h="22479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Baseline</a:t>
                      </a:r>
                      <a:r>
                        <a:rPr dirty="0" sz="75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setting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1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Model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RandomForestClassifier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7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trees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1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Maximum</a:t>
                      </a:r>
                      <a:r>
                        <a:rPr dirty="0" sz="7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depth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7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Class</a:t>
                      </a:r>
                      <a:r>
                        <a:rPr dirty="0" sz="7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weighting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balanced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7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Random</a:t>
                      </a:r>
                      <a:r>
                        <a:rPr dirty="0" sz="7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state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1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Train</a:t>
                      </a:r>
                      <a:r>
                        <a:rPr dirty="0" sz="7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samples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1,962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22415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75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samples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600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</a:tcPr>
                </a:tc>
              </a:tr>
              <a:tr h="198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8B8B8"/>
                      </a:solidFill>
                      <a:prstDash val="solid"/>
                    </a:lnR>
                    <a:lnB w="6350">
                      <a:solidFill>
                        <a:srgbClr val="B8C6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Evaluation</a:t>
                      </a:r>
                      <a:r>
                        <a:rPr dirty="0" sz="7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grouping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Battery</a:t>
                      </a:r>
                      <a:r>
                        <a:rPr dirty="0" sz="7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ID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8B8B8"/>
                      </a:solidFill>
                      <a:prstDash val="solid"/>
                    </a:lnL>
                    <a:lnB w="6350">
                      <a:solidFill>
                        <a:srgbClr val="B8C6D8"/>
                      </a:solidFill>
                      <a:prstDash val="solid"/>
                    </a:lnB>
                  </a:tcPr>
                </a:tc>
              </a:tr>
              <a:tr h="304800">
                <a:tc gridSpan="4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85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baseline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achieved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78.5%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accuracy: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471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600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cycles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were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classified</a:t>
                      </a:r>
                      <a:r>
                        <a:rPr dirty="0" sz="8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correctly.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76200">
                    <a:lnL w="6350">
                      <a:solidFill>
                        <a:srgbClr val="B8C6D8"/>
                      </a:solidFill>
                      <a:prstDash val="solid"/>
                    </a:lnL>
                    <a:lnR w="6350">
                      <a:solidFill>
                        <a:srgbClr val="B8C6D8"/>
                      </a:solidFill>
                      <a:prstDash val="solid"/>
                    </a:lnR>
                    <a:lnT w="6350">
                      <a:solidFill>
                        <a:srgbClr val="B8C6D8"/>
                      </a:solidFill>
                      <a:prstDash val="solid"/>
                    </a:lnT>
                    <a:lnB w="6350">
                      <a:solidFill>
                        <a:srgbClr val="B8C6D8"/>
                      </a:solidFill>
                      <a:prstDash val="solid"/>
                    </a:lnB>
                    <a:solidFill>
                      <a:srgbClr val="F2F6F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57054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9.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Baseline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Confusion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Matrix: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Where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the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78.5%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Model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Fails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000" y="1056503"/>
            <a:ext cx="3305999" cy="2999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500" y="4213903"/>
            <a:ext cx="6353810" cy="5607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78815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5.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Baseline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confusion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matrix,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accuracy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=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78.5%.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Rows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true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labels;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columns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predicted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labels.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diagonal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entries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predictions: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377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Healthy,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89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Critical,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total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471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predictions.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off-diagonal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cells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errors.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3460" y="4861603"/>
          <a:ext cx="5769610" cy="893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1116330"/>
                <a:gridCol w="1152525"/>
                <a:gridCol w="1116330"/>
                <a:gridCol w="864235"/>
              </a:tblGrid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True</a:t>
                      </a:r>
                      <a:r>
                        <a:rPr dirty="0" sz="7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class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Healthy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Degrading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Critical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Total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377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394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88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89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181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03500" y="5795561"/>
            <a:ext cx="6273165" cy="933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weakness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Degrading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recall</a:t>
            </a:r>
            <a:r>
              <a:rPr dirty="0" sz="900">
                <a:latin typeface="Arial MT"/>
                <a:cs typeface="Arial MT"/>
              </a:rPr>
              <a:t>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89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181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detected,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88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incorrectly </a:t>
            </a:r>
            <a:r>
              <a:rPr dirty="0" sz="900">
                <a:latin typeface="Arial MT"/>
                <a:cs typeface="Arial MT"/>
              </a:rPr>
              <a:t>labelled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low: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25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detected,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incorrectly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labelled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Healthy.</a:t>
            </a:r>
            <a:endParaRPr sz="900">
              <a:latin typeface="Arial MT"/>
              <a:cs typeface="Arial MT"/>
            </a:endParaRPr>
          </a:p>
          <a:p>
            <a:pPr marL="12700" marR="635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words,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strong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tendency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confuse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more </a:t>
            </a:r>
            <a:r>
              <a:rPr dirty="0" sz="900">
                <a:latin typeface="Arial MT"/>
                <a:cs typeface="Arial MT"/>
              </a:rPr>
              <a:t>consequential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small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largest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block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failure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recognize degradation.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05460" y="6816133"/>
          <a:ext cx="5625465" cy="89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1368425"/>
                <a:gridCol w="1368424"/>
                <a:gridCol w="1368425"/>
              </a:tblGrid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Class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Precision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Recall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F1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77.7%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95.7%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85.8%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88.1%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49.2%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63.1%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35.7%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20.0%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25.6%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53810" cy="3653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351790" algn="l"/>
              </a:tabLst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What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Was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Changed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to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Improve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the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experiment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representation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before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asking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classifier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decision.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improvement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story.</a:t>
            </a:r>
            <a:endParaRPr sz="900">
              <a:latin typeface="Arial MT"/>
              <a:cs typeface="Arial MT"/>
            </a:endParaRPr>
          </a:p>
          <a:p>
            <a:pPr lvl="1" marL="12700" marR="38735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Added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coulomb-counted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capacity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estimate.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extractor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integrates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|current|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estimate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Ah.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derived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curve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inserted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label.</a:t>
            </a:r>
            <a:endParaRPr sz="900">
              <a:latin typeface="Arial MT"/>
              <a:cs typeface="Arial MT"/>
            </a:endParaRPr>
          </a:p>
          <a:p>
            <a:pPr lvl="1" marL="12700" marR="164465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Added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delivered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energy.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integral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|current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×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voltage|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energy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estimate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gives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summary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how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useful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electrical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delivered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cycle.</a:t>
            </a:r>
            <a:endParaRPr sz="900">
              <a:latin typeface="Arial MT"/>
              <a:cs typeface="Arial MT"/>
            </a:endParaRPr>
          </a:p>
          <a:p>
            <a:pPr algn="just" lvl="1" marL="12700" marR="127635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Added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battery-relative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features.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estimate,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energy,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duration,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time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3.5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voltage,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value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divided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median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first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express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degradation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baseline.</a:t>
            </a:r>
            <a:endParaRPr sz="900">
              <a:latin typeface="Arial MT"/>
              <a:cs typeface="Arial MT"/>
            </a:endParaRPr>
          </a:p>
          <a:p>
            <a:pPr lvl="1" marL="12700" marR="287020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Retained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raw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physical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features.</a:t>
            </a:r>
            <a:r>
              <a:rPr dirty="0" sz="900" spc="7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number,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ambient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voltage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statistics,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current,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temperature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discharge-time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retained.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absolute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descriptions.</a:t>
            </a:r>
            <a:endParaRPr sz="900">
              <a:latin typeface="Arial MT"/>
              <a:cs typeface="Arial MT"/>
            </a:endParaRPr>
          </a:p>
          <a:p>
            <a:pPr lvl="1" marL="12700" marR="163195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Kept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battery-grouped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evaluation.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again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variable.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This </a:t>
            </a:r>
            <a:r>
              <a:rPr dirty="0" sz="900">
                <a:latin typeface="Arial MT"/>
                <a:cs typeface="Arial MT"/>
              </a:rPr>
              <a:t>prevents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deliberately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scattered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during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primary evaluation.</a:t>
            </a:r>
            <a:endParaRPr sz="900">
              <a:latin typeface="Arial MT"/>
              <a:cs typeface="Arial MT"/>
            </a:endParaRPr>
          </a:p>
          <a:p>
            <a:pPr lvl="1" marL="12700" marR="130175" indent="129539">
              <a:lnSpc>
                <a:spcPct val="121300"/>
              </a:lnSpc>
              <a:spcBef>
                <a:spcPts val="600"/>
              </a:spcBef>
              <a:buAutoNum type="arabicPeriod"/>
              <a:tabLst>
                <a:tab pos="142240" algn="l"/>
              </a:tabLst>
            </a:pPr>
            <a:r>
              <a:rPr dirty="0" sz="900" b="1">
                <a:latin typeface="Arial"/>
                <a:cs typeface="Arial"/>
              </a:rPr>
              <a:t>Tuned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candidate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models.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evaluates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RBF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SVM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5-</a:t>
            </a:r>
            <a:r>
              <a:rPr dirty="0" sz="900" spc="-20">
                <a:latin typeface="Arial MT"/>
                <a:cs typeface="Arial MT"/>
              </a:rPr>
              <a:t>fold </a:t>
            </a:r>
            <a:r>
              <a:rPr dirty="0" sz="900">
                <a:latin typeface="Arial MT"/>
                <a:cs typeface="Arial MT"/>
              </a:rPr>
              <a:t>GroupKFold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choose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hyperparameters.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89.5% </a:t>
            </a:r>
            <a:r>
              <a:rPr dirty="0" sz="900">
                <a:latin typeface="Arial MT"/>
                <a:cs typeface="Arial MT"/>
              </a:rPr>
              <a:t>confusion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matrix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selected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Tree.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222" y="4370954"/>
            <a:ext cx="3856751" cy="24048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2865" y="6855593"/>
            <a:ext cx="465518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6.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Test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accuracy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changed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from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78.5%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89.5%,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absolute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gain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11.0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percentage</a:t>
            </a:r>
            <a:r>
              <a:rPr dirty="0" sz="8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points.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17615" cy="218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11.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Why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Decision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Tree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Became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the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Final</a:t>
            </a:r>
            <a:r>
              <a:rPr dirty="0" sz="1600" spc="-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simply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replace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inherently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'better'.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improved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introduces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model-selection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stage.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RBF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SVM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candidates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them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GroupKFold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training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cross-validated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accuracy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selected.</a:t>
            </a:r>
            <a:endParaRPr sz="900">
              <a:latin typeface="Arial MT"/>
              <a:cs typeface="Arial MT"/>
            </a:endParaRPr>
          </a:p>
          <a:p>
            <a:pPr marL="12700" marR="558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search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max_depth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min_samples_leaf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criterion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(Gini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entropy),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balanced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weights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retained.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allows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complexity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chosen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instead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relying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single </a:t>
            </a:r>
            <a:r>
              <a:rPr dirty="0" sz="900">
                <a:latin typeface="Arial MT"/>
                <a:cs typeface="Arial MT"/>
              </a:rPr>
              <a:t>arbitrary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depth.</a:t>
            </a:r>
            <a:endParaRPr sz="900">
              <a:latin typeface="Arial MT"/>
              <a:cs typeface="Arial MT"/>
            </a:endParaRPr>
          </a:p>
          <a:p>
            <a:pPr marL="12700" marR="12700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attractive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particular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application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defined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thresholds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combinations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physical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variables.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express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rules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form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'if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crossed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certain </a:t>
            </a:r>
            <a:r>
              <a:rPr dirty="0" sz="900">
                <a:latin typeface="Arial MT"/>
                <a:cs typeface="Arial MT"/>
              </a:rPr>
              <a:t>boundary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certain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range,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toward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class'.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structure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 </a:t>
            </a:r>
            <a:r>
              <a:rPr dirty="0" sz="900">
                <a:latin typeface="Arial MT"/>
                <a:cs typeface="Arial MT"/>
              </a:rPr>
              <a:t>explain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teacher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inspected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after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training.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000" y="2764603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76200" marR="422909">
              <a:lnSpc>
                <a:spcPct val="117600"/>
              </a:lnSpc>
              <a:spcBef>
                <a:spcPts val="420"/>
              </a:spcBef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accuracy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increase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should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therefore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attributed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b="1">
                <a:latin typeface="Arial"/>
                <a:cs typeface="Arial"/>
              </a:rPr>
              <a:t>combined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pipeline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change</a:t>
            </a:r>
            <a:r>
              <a:rPr dirty="0" sz="850">
                <a:latin typeface="Arial MT"/>
                <a:cs typeface="Arial MT"/>
              </a:rPr>
              <a:t>: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improved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features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+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battery-</a:t>
            </a:r>
            <a:r>
              <a:rPr dirty="0" sz="850" spc="-10">
                <a:latin typeface="Arial MT"/>
                <a:cs typeface="Arial MT"/>
              </a:rPr>
              <a:t>relative </a:t>
            </a:r>
            <a:r>
              <a:rPr dirty="0" sz="850">
                <a:latin typeface="Arial MT"/>
                <a:cs typeface="Arial MT"/>
              </a:rPr>
              <a:t>normalization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+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tuned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model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selection.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would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misleading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say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changing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Random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Forest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Decision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Tree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alone </a:t>
            </a:r>
            <a:r>
              <a:rPr dirty="0" sz="850">
                <a:latin typeface="Arial MT"/>
                <a:cs typeface="Arial MT"/>
              </a:rPr>
              <a:t>mathematically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caused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entire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11-</a:t>
            </a:r>
            <a:r>
              <a:rPr dirty="0" sz="850">
                <a:latin typeface="Arial MT"/>
                <a:cs typeface="Arial MT"/>
              </a:rPr>
              <a:t>point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improvement.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500" y="3335341"/>
            <a:ext cx="6353810" cy="690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There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important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modelling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caveat.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explicitly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capacity-based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proxy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close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quantity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construct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Although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than </a:t>
            </a:r>
            <a:r>
              <a:rPr dirty="0" sz="900">
                <a:latin typeface="Arial MT"/>
                <a:cs typeface="Arial MT"/>
              </a:rPr>
              <a:t>directly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copied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direct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signal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target.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Their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described </a:t>
            </a:r>
            <a:r>
              <a:rPr dirty="0" sz="900">
                <a:latin typeface="Arial MT"/>
                <a:cs typeface="Arial MT"/>
              </a:rPr>
              <a:t>transparently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follow-up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ablation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experiment.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46666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12.</a:t>
            </a:r>
            <a:r>
              <a:rPr dirty="0" sz="1600" spc="-2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Improved</a:t>
            </a:r>
            <a:r>
              <a:rPr dirty="0" sz="1600" spc="-2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Confusion</a:t>
            </a:r>
            <a:r>
              <a:rPr dirty="0" sz="1600" spc="-2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Matrix:</a:t>
            </a:r>
            <a:r>
              <a:rPr dirty="0" sz="1600" spc="-2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89.5%</a:t>
            </a:r>
            <a:r>
              <a:rPr dirty="0" sz="1600" spc="-2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Accuracy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000" y="1056503"/>
            <a:ext cx="3599999" cy="2999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500" y="4213903"/>
            <a:ext cx="6176010" cy="5607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3162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7.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Improved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Decision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Tree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confusion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matrix,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accuracy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=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89.5%.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matrix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537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63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incorrect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predictions.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Compared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correct </a:t>
            </a:r>
            <a:r>
              <a:rPr dirty="0" sz="900">
                <a:latin typeface="Arial MT"/>
                <a:cs typeface="Arial MT"/>
              </a:rPr>
              <a:t>classifications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66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while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decrease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66.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3460" y="4861603"/>
          <a:ext cx="5769610" cy="893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1116330"/>
                <a:gridCol w="1152525"/>
                <a:gridCol w="1116330"/>
                <a:gridCol w="864235"/>
              </a:tblGrid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True</a:t>
                      </a:r>
                      <a:r>
                        <a:rPr dirty="0" sz="75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class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Healthy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Degrading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Predicted</a:t>
                      </a:r>
                      <a:r>
                        <a:rPr dirty="0" sz="75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Critical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Total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380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394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132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181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03500" y="5795561"/>
            <a:ext cx="6353810" cy="1099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9535">
              <a:lnSpc>
                <a:spcPct val="1213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striking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row: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88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whereas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improved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49.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39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such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0,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errors </a:t>
            </a:r>
            <a:r>
              <a:rPr dirty="0" sz="900">
                <a:latin typeface="Arial MT"/>
                <a:cs typeface="Arial MT"/>
              </a:rPr>
              <a:t>fall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0.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still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14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49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errors.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is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perfect: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main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remaining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ambiguity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between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which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reasonable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because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lie </a:t>
            </a:r>
            <a:r>
              <a:rPr dirty="0" sz="900">
                <a:latin typeface="Arial MT"/>
                <a:cs typeface="Arial MT"/>
              </a:rPr>
              <a:t>next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another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at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85%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boundary.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269355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13.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Detailed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TP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/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FP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/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TN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/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FN</a:t>
            </a:r>
            <a:r>
              <a:rPr dirty="0" sz="1600" spc="-1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Comparison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770"/>
              </a:spcBef>
            </a:pP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three-class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problem,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TP,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FP,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calculated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one-vs-rest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manner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example,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when </a:t>
            </a:r>
            <a:r>
              <a:rPr dirty="0" sz="900">
                <a:latin typeface="Arial MT"/>
                <a:cs typeface="Arial MT"/>
              </a:rPr>
              <a:t>evaluating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'Degrading',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treated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+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treated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negative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class.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23460" y="1354903"/>
          <a:ext cx="5589905" cy="1555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/>
                <a:gridCol w="1188085"/>
                <a:gridCol w="756284"/>
                <a:gridCol w="756285"/>
                <a:gridCol w="756285"/>
                <a:gridCol w="756285"/>
              </a:tblGrid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Model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Class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TP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FP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TN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 b="1">
                          <a:latin typeface="Arial"/>
                          <a:cs typeface="Arial"/>
                        </a:rPr>
                        <a:t>FN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Random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Forest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377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108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98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Random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Forest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89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407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92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Random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Forest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566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Decision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Tree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Healthy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380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157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Decision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Tree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Degrading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132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14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405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49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Decision 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Tree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Critical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25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25">
                          <a:latin typeface="Arial MT"/>
                          <a:cs typeface="Arial MT"/>
                        </a:rPr>
                        <a:t>575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50" spc="-50">
                          <a:latin typeface="Arial MT"/>
                          <a:cs typeface="Arial MT"/>
                        </a:rPr>
                        <a:t>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825" y="3033741"/>
            <a:ext cx="4299275" cy="29737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3500" y="6074793"/>
            <a:ext cx="6353810" cy="13785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03275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8.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One-vs-rest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comparison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true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positives,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false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positives,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true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negatives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false</a:t>
            </a:r>
            <a:r>
              <a:rPr dirty="0" sz="800" spc="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negatives.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True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positives: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+3,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+43,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+20.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matrices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not </a:t>
            </a:r>
            <a:r>
              <a:rPr dirty="0" sz="900">
                <a:latin typeface="Arial MT"/>
                <a:cs typeface="Arial MT"/>
              </a:rPr>
              <a:t>support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statement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decreased.</a:t>
            </a:r>
            <a:endParaRPr sz="900">
              <a:latin typeface="Arial MT"/>
              <a:cs typeface="Arial MT"/>
            </a:endParaRPr>
          </a:p>
          <a:p>
            <a:pPr marL="12700" marR="278765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False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negatives: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every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class: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17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14,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92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49,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</a:t>
            </a:r>
            <a:r>
              <a:rPr dirty="0" sz="900">
                <a:latin typeface="Symbol"/>
                <a:cs typeface="Symbol"/>
              </a:rPr>
              <a:t></a:t>
            </a:r>
            <a:r>
              <a:rPr dirty="0" sz="900">
                <a:latin typeface="Arial MT"/>
                <a:cs typeface="Arial MT"/>
              </a:rPr>
              <a:t>0.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major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reason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improves.</a:t>
            </a:r>
            <a:endParaRPr sz="900">
              <a:latin typeface="Arial MT"/>
              <a:cs typeface="Arial MT"/>
            </a:endParaRPr>
          </a:p>
          <a:p>
            <a:pPr marL="12700" marR="27305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False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positives:</a:t>
            </a:r>
            <a:r>
              <a:rPr dirty="0" sz="900" spc="4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FP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falls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sharply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108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49;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FP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slightly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12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14;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FP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falls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9</a:t>
            </a:r>
            <a:r>
              <a:rPr dirty="0" sz="900">
                <a:latin typeface="Arial MT"/>
                <a:cs typeface="Arial MT"/>
              </a:rPr>
              <a:t> 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0.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overall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pattern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much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cleaner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separation,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especially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49714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14.</a:t>
            </a:r>
            <a:r>
              <a:rPr dirty="0" sz="1600" spc="-4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Quantitative</a:t>
            </a:r>
            <a:r>
              <a:rPr dirty="0" sz="1600" spc="-3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Comparison</a:t>
            </a:r>
            <a:r>
              <a:rPr dirty="0" sz="1600" spc="-3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of</a:t>
            </a:r>
            <a:r>
              <a:rPr dirty="0" sz="1600" spc="-3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Model</a:t>
            </a:r>
            <a:r>
              <a:rPr dirty="0" sz="1600" spc="-3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63A62"/>
                </a:solidFill>
                <a:latin typeface="Arial"/>
                <a:cs typeface="Arial"/>
              </a:rPr>
              <a:t>Performance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240" y="1008530"/>
            <a:ext cx="4615525" cy="26746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8953" y="3781902"/>
            <a:ext cx="362267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Figure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9.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Accuracy,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macro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precision,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macro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recall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macro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44444"/>
                </a:solidFill>
                <a:latin typeface="Arial MT"/>
                <a:cs typeface="Arial MT"/>
              </a:rPr>
              <a:t>F1</a:t>
            </a:r>
            <a:r>
              <a:rPr dirty="0" sz="800" spc="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Arial MT"/>
                <a:cs typeface="Arial MT"/>
              </a:rPr>
              <a:t>comparison.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459" y="4020662"/>
          <a:ext cx="6201410" cy="1102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1080134"/>
                <a:gridCol w="1080135"/>
                <a:gridCol w="2520315"/>
              </a:tblGrid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Metric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Random</a:t>
                      </a:r>
                      <a:r>
                        <a:rPr dirty="0" sz="75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b="1">
                          <a:latin typeface="Arial"/>
                          <a:cs typeface="Arial"/>
                        </a:rPr>
                        <a:t>Forest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Decision</a:t>
                      </a:r>
                      <a:r>
                        <a:rPr dirty="0" sz="75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 b="1">
                          <a:latin typeface="Arial"/>
                          <a:cs typeface="Arial"/>
                        </a:rPr>
                        <a:t>Tree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 b="1">
                          <a:latin typeface="Arial"/>
                          <a:cs typeface="Arial"/>
                        </a:rPr>
                        <a:t>Interpretation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DBE6F0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Accuracy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78.5%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89.5%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537/600</a:t>
                      </a:r>
                      <a:r>
                        <a:rPr dirty="0" sz="75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correct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versus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471/600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Macro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precision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67.2%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92.7%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dirty="0" sz="75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balance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class-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wise</a:t>
                      </a:r>
                      <a:r>
                        <a:rPr dirty="0" sz="7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precision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Macro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recall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55.0%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89.8%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Much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better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detection</a:t>
                      </a:r>
                      <a:r>
                        <a:rPr dirty="0" sz="75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classes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Macro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F1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58.2%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 spc="-10">
                          <a:latin typeface="Arial MT"/>
                          <a:cs typeface="Arial MT"/>
                        </a:rPr>
                        <a:t>91.0%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750">
                          <a:latin typeface="Arial MT"/>
                          <a:cs typeface="Arial MT"/>
                        </a:rPr>
                        <a:t>Strong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improvement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balanced</a:t>
                      </a:r>
                      <a:r>
                        <a:rPr dirty="0" sz="7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class</a:t>
                      </a:r>
                      <a:r>
                        <a:rPr dirty="0" sz="75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latin typeface="Arial MT"/>
                          <a:cs typeface="Arial MT"/>
                        </a:rPr>
                        <a:t>performance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49530">
                    <a:lnL w="6350">
                      <a:solidFill>
                        <a:srgbClr val="B8B8B8"/>
                      </a:solidFill>
                      <a:prstDash val="solid"/>
                    </a:lnL>
                    <a:lnR w="6350">
                      <a:solidFill>
                        <a:srgbClr val="B8B8B8"/>
                      </a:solidFill>
                      <a:prstDash val="solid"/>
                    </a:lnR>
                    <a:lnT w="6350">
                      <a:solidFill>
                        <a:srgbClr val="B8B8B8"/>
                      </a:solidFill>
                      <a:prstDash val="solid"/>
                    </a:lnT>
                    <a:lnB w="6350">
                      <a:solidFill>
                        <a:srgbClr val="B8B8B8"/>
                      </a:solidFill>
                      <a:prstDash val="soli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03500" y="5165440"/>
            <a:ext cx="6279515" cy="933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2405">
              <a:lnSpc>
                <a:spcPct val="121300"/>
              </a:lnSpc>
              <a:spcBef>
                <a:spcPts val="95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accuracy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gain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11.0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percentage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points</a:t>
            </a:r>
            <a:r>
              <a:rPr dirty="0" sz="900">
                <a:latin typeface="Arial MT"/>
                <a:cs typeface="Arial MT"/>
              </a:rPr>
              <a:t>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equivalent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66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additional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600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test </a:t>
            </a:r>
            <a:r>
              <a:rPr dirty="0" sz="900">
                <a:latin typeface="Arial MT"/>
                <a:cs typeface="Arial MT"/>
              </a:rPr>
              <a:t>samples.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error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count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almost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half,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129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63.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meaningful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class-level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improvement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95.7%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96.4%,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rises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49.2%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72.9%,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recall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20.0%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100.0%.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Thus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accuracy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simply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caused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by </a:t>
            </a:r>
            <a:r>
              <a:rPr dirty="0" sz="900">
                <a:latin typeface="Arial MT"/>
                <a:cs typeface="Arial MT"/>
              </a:rPr>
              <a:t>predicting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majority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aggressively;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actually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detects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cases.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000" y="6112352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76200" marR="83820">
              <a:lnSpc>
                <a:spcPct val="117600"/>
              </a:lnSpc>
              <a:spcBef>
                <a:spcPts val="420"/>
              </a:spcBef>
            </a:pPr>
            <a:r>
              <a:rPr dirty="0" sz="850">
                <a:latin typeface="Arial MT"/>
                <a:cs typeface="Arial MT"/>
              </a:rPr>
              <a:t>At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same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time,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result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should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not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treated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universal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proof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Decision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Tree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will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always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outperform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Random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Forest.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It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result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this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particular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feature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engineering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process,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split,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tuning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configuration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test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set.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stronger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validation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study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would </a:t>
            </a:r>
            <a:r>
              <a:rPr dirty="0" sz="850">
                <a:latin typeface="Arial MT"/>
                <a:cs typeface="Arial MT"/>
              </a:rPr>
              <a:t>repeat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grouped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evaluation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over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multiple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battery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partitions.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00" y="567503"/>
            <a:ext cx="6354445" cy="507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00"/>
              </a:spcBef>
              <a:buAutoNum type="arabicPeriod" startAt="15"/>
              <a:tabLst>
                <a:tab pos="351790" algn="l"/>
              </a:tabLst>
            </a:pP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Final</a:t>
            </a:r>
            <a:r>
              <a:rPr dirty="0" sz="1600" spc="-5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Interpretation,</a:t>
            </a:r>
            <a:r>
              <a:rPr dirty="0" sz="1600" spc="-4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Limitations</a:t>
            </a:r>
            <a:r>
              <a:rPr dirty="0" sz="1600" spc="-4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and</a:t>
            </a:r>
            <a:r>
              <a:rPr dirty="0" sz="1600" spc="-45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63A62"/>
                </a:solidFill>
                <a:latin typeface="Arial"/>
                <a:cs typeface="Arial"/>
              </a:rPr>
              <a:t>Future</a:t>
            </a:r>
            <a:r>
              <a:rPr dirty="0" sz="1600" spc="-50" b="1">
                <a:solidFill>
                  <a:srgbClr val="163A62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163A62"/>
                </a:solidFill>
                <a:latin typeface="Arial"/>
                <a:cs typeface="Arial"/>
              </a:rPr>
              <a:t>Work</a:t>
            </a:r>
            <a:endParaRPr sz="1600">
              <a:latin typeface="Arial"/>
              <a:cs typeface="Arial"/>
            </a:endParaRPr>
          </a:p>
          <a:p>
            <a:pPr marL="12700" marR="111760">
              <a:lnSpc>
                <a:spcPct val="121300"/>
              </a:lnSpc>
              <a:spcBef>
                <a:spcPts val="770"/>
              </a:spcBef>
            </a:pPr>
            <a:r>
              <a:rPr dirty="0" sz="900" b="1">
                <a:latin typeface="Arial"/>
                <a:cs typeface="Arial"/>
              </a:rPr>
              <a:t>What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was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achieved.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project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transformed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raw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files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into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supervised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health-classification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problem, </a:t>
            </a:r>
            <a:r>
              <a:rPr dirty="0" sz="900">
                <a:latin typeface="Arial MT"/>
                <a:cs typeface="Arial MT"/>
              </a:rPr>
              <a:t>cleaned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2,794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records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down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2,562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usable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cycle-level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observations,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SOH-based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classes,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>
                <a:latin typeface="Arial MT"/>
                <a:cs typeface="Arial MT"/>
              </a:rPr>
              <a:t>established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battery-grouped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evaluation.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reached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78.5%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accuracy.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improved </a:t>
            </a:r>
            <a:r>
              <a:rPr dirty="0" sz="900">
                <a:latin typeface="Arial MT"/>
                <a:cs typeface="Arial MT"/>
              </a:rPr>
              <a:t>feature/model-selection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pipeline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produced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Decision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89.5%.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Why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accuracy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increased.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strongest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explanation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receives </a:t>
            </a:r>
            <a:r>
              <a:rPr dirty="0" sz="900">
                <a:latin typeface="Arial MT"/>
                <a:cs typeface="Arial MT"/>
              </a:rPr>
              <a:t>more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informative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information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about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degradation.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Coulomb-counted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energy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describe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discharge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curve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more </a:t>
            </a:r>
            <a:r>
              <a:rPr dirty="0" sz="900">
                <a:latin typeface="Arial MT"/>
                <a:cs typeface="Arial MT"/>
              </a:rPr>
              <a:t>directly;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cycle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battery's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own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early-life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baseline;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lets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tree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 </a:t>
            </a:r>
            <a:r>
              <a:rPr dirty="0" sz="900">
                <a:latin typeface="Arial MT"/>
                <a:cs typeface="Arial MT"/>
              </a:rPr>
              <a:t>appropriate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complexity.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These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changes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reduce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major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baseline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failure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mode: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degraded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batteries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labelled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Healthy.</a:t>
            </a:r>
            <a:endParaRPr sz="900">
              <a:latin typeface="Arial MT"/>
              <a:cs typeface="Arial MT"/>
            </a:endParaRPr>
          </a:p>
          <a:p>
            <a:pPr algn="just" marL="12700" marR="176530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What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confusion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matrices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prove.</a:t>
            </a:r>
            <a:r>
              <a:rPr dirty="0" sz="900" spc="5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537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correct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versus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471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baseline. </a:t>
            </a:r>
            <a:r>
              <a:rPr dirty="0" sz="900">
                <a:latin typeface="Arial MT"/>
                <a:cs typeface="Arial MT"/>
              </a:rPr>
              <a:t>Degrading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TP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89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132,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TP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rises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25,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all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class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false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negatives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decrease.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Therefore,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statement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'accuracy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increased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positives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decreased'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supported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matrices.</a:t>
            </a:r>
            <a:endParaRPr sz="9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810"/>
              </a:spcBef>
            </a:pPr>
            <a:r>
              <a:rPr dirty="0" sz="1150" b="1">
                <a:latin typeface="Arial"/>
                <a:cs typeface="Arial"/>
              </a:rPr>
              <a:t>Important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limitations.</a:t>
            </a:r>
            <a:endParaRPr sz="1150">
              <a:latin typeface="Arial"/>
              <a:cs typeface="Arial"/>
            </a:endParaRPr>
          </a:p>
          <a:p>
            <a:pPr lvl="1" marL="149225" indent="-73025">
              <a:lnSpc>
                <a:spcPct val="100000"/>
              </a:lnSpc>
              <a:spcBef>
                <a:spcPts val="74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dataset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relatively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imbalanced,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far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fewer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samples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Healthy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samples.</a:t>
            </a:r>
            <a:endParaRPr sz="900">
              <a:latin typeface="Arial MT"/>
              <a:cs typeface="Arial MT"/>
            </a:endParaRPr>
          </a:p>
          <a:p>
            <a:pPr lvl="1" marL="149225" marR="117475" indent="-73025">
              <a:lnSpc>
                <a:spcPct val="121300"/>
              </a:lnSpc>
              <a:spcBef>
                <a:spcPts val="600"/>
              </a:spcBef>
              <a:buChar char="•"/>
              <a:tabLst>
                <a:tab pos="1651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target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label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derived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capacity,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some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capacity/energy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proxies.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make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 spc="-25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classification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easier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creates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potential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target-proxy/leakage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concern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should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investigated.</a:t>
            </a:r>
            <a:endParaRPr sz="900">
              <a:latin typeface="Arial MT"/>
              <a:cs typeface="Arial MT"/>
            </a:endParaRPr>
          </a:p>
          <a:p>
            <a:pPr lvl="1" marL="147320" marR="5080" indent="-71120">
              <a:lnSpc>
                <a:spcPct val="121300"/>
              </a:lnSpc>
              <a:spcBef>
                <a:spcPts val="600"/>
              </a:spcBef>
              <a:buChar char="•"/>
              <a:tabLst>
                <a:tab pos="165100" algn="l"/>
              </a:tabLst>
            </a:pPr>
            <a:r>
              <a:rPr dirty="0" sz="900">
                <a:latin typeface="Arial MT"/>
                <a:cs typeface="Arial MT"/>
              </a:rPr>
              <a:t>Only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held-out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test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partition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is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shown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results.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Repeated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GroupKFold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leave-one-battery-</a:t>
            </a:r>
            <a:r>
              <a:rPr dirty="0" sz="900" spc="-25">
                <a:latin typeface="Arial MT"/>
                <a:cs typeface="Arial MT"/>
              </a:rPr>
              <a:t>out </a:t>
            </a:r>
            <a:r>
              <a:rPr dirty="0" sz="900" spc="-25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evaluation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would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stronger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estimate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generalization.</a:t>
            </a:r>
            <a:endParaRPr sz="900">
              <a:latin typeface="Arial MT"/>
              <a:cs typeface="Arial MT"/>
            </a:endParaRPr>
          </a:p>
          <a:p>
            <a:pPr lvl="1" marL="149225" indent="-73025">
              <a:lnSpc>
                <a:spcPct val="100000"/>
              </a:lnSpc>
              <a:spcBef>
                <a:spcPts val="830"/>
              </a:spcBef>
              <a:buChar char="•"/>
              <a:tabLst>
                <a:tab pos="149225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discrete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health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state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rather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remaining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useful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life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(RUL)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estimate.</a:t>
            </a:r>
            <a:endParaRPr sz="900">
              <a:latin typeface="Arial MT"/>
              <a:cs typeface="Arial MT"/>
            </a:endParaRPr>
          </a:p>
          <a:p>
            <a:pPr lvl="1" marL="149225" marR="90805" indent="-73025">
              <a:lnSpc>
                <a:spcPct val="121300"/>
              </a:lnSpc>
              <a:spcBef>
                <a:spcPts val="600"/>
              </a:spcBef>
              <a:buChar char="•"/>
              <a:tabLst>
                <a:tab pos="16510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supplied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improved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notebook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contains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tuning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procedure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but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preserve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printed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candidate-model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CV </a:t>
            </a:r>
            <a:r>
              <a:rPr dirty="0" sz="900" spc="-25">
                <a:latin typeface="Arial MT"/>
                <a:cs typeface="Arial MT"/>
              </a:rPr>
              <a:t>	</a:t>
            </a:r>
            <a:r>
              <a:rPr dirty="0" sz="900">
                <a:latin typeface="Arial MT"/>
                <a:cs typeface="Arial MT"/>
              </a:rPr>
              <a:t>table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its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stored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outputs;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therefore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report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does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invent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exact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cross-validation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scores.</a:t>
            </a:r>
            <a:endParaRPr sz="900">
              <a:latin typeface="Arial MT"/>
              <a:cs typeface="Arial MT"/>
            </a:endParaRPr>
          </a:p>
          <a:p>
            <a:pPr marL="12700" marR="72390">
              <a:lnSpc>
                <a:spcPct val="121300"/>
              </a:lnSpc>
              <a:spcBef>
                <a:spcPts val="600"/>
              </a:spcBef>
            </a:pPr>
            <a:r>
              <a:rPr dirty="0" sz="900" b="1">
                <a:latin typeface="Arial"/>
                <a:cs typeface="Arial"/>
              </a:rPr>
              <a:t>Recommended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next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experiments.</a:t>
            </a:r>
            <a:r>
              <a:rPr dirty="0" sz="900" spc="6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Run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ablation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study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removing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capacity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proxy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features,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compare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tuned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tree </a:t>
            </a:r>
            <a:r>
              <a:rPr dirty="0" sz="900">
                <a:latin typeface="Arial MT"/>
                <a:cs typeface="Arial MT"/>
              </a:rPr>
              <a:t>against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Random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Forest,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Gradient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Boosting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SVM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under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identical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grouped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folds,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report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mean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±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standard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deviation </a:t>
            </a:r>
            <a:r>
              <a:rPr dirty="0" sz="900">
                <a:latin typeface="Arial MT"/>
                <a:cs typeface="Arial MT"/>
              </a:rPr>
              <a:t>across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folds,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evaluate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calibration/confidence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Critical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predictions.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continuous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SOH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regression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model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can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also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be </a:t>
            </a:r>
            <a:r>
              <a:rPr dirty="0" sz="900">
                <a:latin typeface="Arial MT"/>
                <a:cs typeface="Arial MT"/>
              </a:rPr>
              <a:t>developed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alongside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three-class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classifier.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000" y="5651313"/>
            <a:ext cx="6480175" cy="609600"/>
          </a:xfrm>
          <a:prstGeom prst="rect">
            <a:avLst/>
          </a:prstGeom>
          <a:solidFill>
            <a:srgbClr val="F2F6F9"/>
          </a:solidFill>
          <a:ln w="6350">
            <a:solidFill>
              <a:srgbClr val="B8C6D8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algn="just" marL="76200" marR="323215">
              <a:lnSpc>
                <a:spcPct val="117600"/>
              </a:lnSpc>
              <a:spcBef>
                <a:spcPts val="420"/>
              </a:spcBef>
            </a:pPr>
            <a:r>
              <a:rPr dirty="0" sz="850">
                <a:latin typeface="Arial MT"/>
                <a:cs typeface="Arial MT"/>
              </a:rPr>
              <a:t>Overall,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project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demonstrates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clear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engineering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progression: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b="1">
                <a:latin typeface="Arial"/>
                <a:cs typeface="Arial"/>
              </a:rPr>
              <a:t>raw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spc="-10" b="1">
                <a:latin typeface="Arial"/>
                <a:cs typeface="Arial"/>
              </a:rPr>
              <a:t>measurements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>
                <a:latin typeface="Symbol"/>
                <a:cs typeface="Symbol"/>
              </a:rPr>
              <a:t>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b="1">
                <a:latin typeface="Arial"/>
                <a:cs typeface="Arial"/>
              </a:rPr>
              <a:t>physically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meaningful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features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spc="-50">
                <a:latin typeface="Symbol"/>
                <a:cs typeface="Symbol"/>
              </a:rPr>
              <a:t></a:t>
            </a:r>
            <a:r>
              <a:rPr dirty="0" sz="850" spc="-10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Arial"/>
                <a:cs typeface="Arial"/>
              </a:rPr>
              <a:t>battery-</a:t>
            </a:r>
            <a:r>
              <a:rPr dirty="0" sz="850" b="1">
                <a:latin typeface="Arial"/>
                <a:cs typeface="Arial"/>
              </a:rPr>
              <a:t>relative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normalization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>
                <a:latin typeface="Symbol"/>
                <a:cs typeface="Symbol"/>
              </a:rPr>
              <a:t>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b="1">
                <a:latin typeface="Arial"/>
                <a:cs typeface="Arial"/>
              </a:rPr>
              <a:t>controlled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grouped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evaluation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>
                <a:latin typeface="Symbol"/>
                <a:cs typeface="Symbol"/>
              </a:rPr>
              <a:t></a:t>
            </a:r>
            <a:r>
              <a:rPr dirty="0" sz="850" spc="-5">
                <a:latin typeface="Times New Roman"/>
                <a:cs typeface="Times New Roman"/>
              </a:rPr>
              <a:t> </a:t>
            </a:r>
            <a:r>
              <a:rPr dirty="0" sz="850" b="1">
                <a:latin typeface="Arial"/>
                <a:cs typeface="Arial"/>
              </a:rPr>
              <a:t>tuned</a:t>
            </a:r>
            <a:r>
              <a:rPr dirty="0" sz="850" spc="-2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classifier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>
                <a:latin typeface="Symbol"/>
                <a:cs typeface="Symbol"/>
              </a:rPr>
              <a:t>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b="1">
                <a:latin typeface="Arial"/>
                <a:cs typeface="Arial"/>
              </a:rPr>
              <a:t>detailed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error</a:t>
            </a:r>
            <a:r>
              <a:rPr dirty="0" sz="850" spc="-2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analysis</a:t>
            </a:r>
            <a:r>
              <a:rPr dirty="0" sz="850">
                <a:latin typeface="Arial MT"/>
                <a:cs typeface="Arial MT"/>
              </a:rPr>
              <a:t>.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89.5% </a:t>
            </a:r>
            <a:r>
              <a:rPr dirty="0" sz="850">
                <a:latin typeface="Arial MT"/>
                <a:cs typeface="Arial MT"/>
              </a:rPr>
              <a:t>result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best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understood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as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outcome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complete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pipeline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rather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than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single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algorithm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swap.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dc:subject>(unspecified)</dc:subject>
  <dc:title>Battery Health State Classification - Accuracy Improvement Report</dc:title>
  <dcterms:created xsi:type="dcterms:W3CDTF">2026-09-20T13:26:52Z</dcterms:created>
  <dcterms:modified xsi:type="dcterms:W3CDTF">2026-09-20T13:26:52Z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2026-09-20T00:00:00Z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2026-09-20T00:00:00Z</vt:filetime>
  </property>
  <property fmtid="{D5CDD505-2E9C-101B-9397-08002B2CF9AE}" pid="6" name="Producer">
    <vt:lpwstr>3.0.38 (5.1.24) </vt:lpwstr>
  </property>
</Properties>
</file>